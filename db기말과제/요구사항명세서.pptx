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72" r:id="rId6"/>
    <p:sldId id="271" r:id="rId7"/>
    <p:sldId id="258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9" autoAdjust="0"/>
    <p:restoredTop sz="94660"/>
  </p:normalViewPr>
  <p:slideViewPr>
    <p:cSldViewPr snapToGrid="0">
      <p:cViewPr varScale="1">
        <p:scale>
          <a:sx n="57" d="100"/>
          <a:sy n="57" d="100"/>
        </p:scale>
        <p:origin x="72" y="11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9F42DC-B214-362F-7208-A61CE4E7A1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E167546-0310-D57C-4E5F-7F8E3AF39A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009DAC-1D36-DA1B-C1C2-722CA1E26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61858-E866-471E-9F22-67C23F082C2F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656FFC-A9CF-CF35-4C88-13C2E6989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250BFB-10EE-C256-BEF4-A570973D2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15477-CADA-4AAC-A03F-C918FBDBD1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3572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730DF7-C7DF-5D04-E117-2A97995CC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526D16-AC1F-CE52-17C4-B319099A1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29AD8E-F3FF-B20D-F3B4-0A75567A3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61858-E866-471E-9F22-67C23F082C2F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710EC9-FE7D-F0D7-F406-34D1BD4C2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71AD18-8264-B72A-7D09-85A814938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15477-CADA-4AAC-A03F-C918FBDBD1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3985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F66D36-C271-3BD5-55BF-900AEBF5A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9D838E-0124-BF42-63BA-8F92B37956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7D7765-42A1-B8A7-16E0-57F9045E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61858-E866-471E-9F22-67C23F082C2F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8E7F78-2AF4-6CB8-0982-3CD592003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DE0F3A-9412-9035-24D7-D0203773D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15477-CADA-4AAC-A03F-C918FBDBD1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7082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4D36B3-4E8F-2373-195E-52FC20DD0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CB3F0E-5E25-3523-6249-A0217CA333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3FB5AA-EB79-AC3B-C3B5-3E01E655B6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CFA5736-7BCF-3E16-A56B-29D1E7A2B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61858-E866-471E-9F22-67C23F082C2F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1F9A55-4ACB-5C82-91D7-BB0C22837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63EFFA-BAE0-E845-3000-008ADC3DD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15477-CADA-4AAC-A03F-C918FBDBD1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1490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6A9353-FD1D-3544-476D-36CACDFB3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6E31BE-3BB6-AB39-7589-C00E97406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6D84E7F-B723-471E-2CC0-5DC99872C1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1EB739F-1459-F4C7-03EB-9C2C70346F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4E5068F-DE94-C2A3-4D9B-10839A995A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EBF34BD-A147-6FEB-8B76-6C9D8EE45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61858-E866-471E-9F22-67C23F082C2F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2C2AC03-14AD-13CF-68DF-F5CD7650C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E42967C-5335-AD1A-C6F3-0574E9C4C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15477-CADA-4AAC-A03F-C918FBDBD1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957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CC55BC-8594-1F00-E657-1D1B14E75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F4DB6F9-062D-133D-1E91-C986214F0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61858-E866-471E-9F22-67C23F082C2F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E9030D6-9CB7-EDE1-B5D5-311A69BA4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A1C6CD0-568F-B9A6-A2FE-CC78D16CF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15477-CADA-4AAC-A03F-C918FBDBD1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6633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6CB2AEA-B449-539A-806A-BBECBC3E8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61858-E866-471E-9F22-67C23F082C2F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A7C88FD-46C4-10BF-D941-BDA1ECF53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1DD5F9-C142-EC99-7329-1377510ED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15477-CADA-4AAC-A03F-C918FBDBD1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5064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9996CD-3200-413B-1E82-E1F843C5F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27F088-B4A1-E66E-73B0-7966AAB9B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69FABD5-15CB-B4F9-EFDF-C266A45F39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7B3228-273B-EDDD-B73A-FA28AA398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61858-E866-471E-9F22-67C23F082C2F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3770B5E-492D-D333-F9D3-375C76FA7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78A5B9-E3CA-5CAC-F282-FF93FE255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15477-CADA-4AAC-A03F-C918FBDBD1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54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ACB437-F03F-81C2-4910-AD7E63F33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07E1975-712F-C989-BA85-A5B785B3E5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3AC66B-9CD1-A284-FDFA-A1053F44C6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ABE032-AE67-E25E-9314-36FE4C337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61858-E866-471E-9F22-67C23F082C2F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4A0FB7D-9D3D-5CBF-5F7C-99A13D24E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CF411C-B77F-BE16-BC70-6BCBB6E67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15477-CADA-4AAC-A03F-C918FBDBD1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1599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334069-06C0-4D17-1083-B72950223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04B0F92-D5E1-9A8D-BAB6-1B5179AED4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AC1CAD-3290-3380-5AF4-EA85C1B02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61858-E866-471E-9F22-67C23F082C2F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F910C8-F3A3-B829-54BE-3C4F48BB7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B22B03-BA58-49B3-3FC8-4C117458D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15477-CADA-4AAC-A03F-C918FBDBD1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8764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82EC0F5-703F-838A-FDA2-2C178260A8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C896D51-FF88-EB78-B39C-72F8E06132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BB180D-6D28-61C1-9291-03889EABA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61858-E866-471E-9F22-67C23F082C2F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D29684-E4F3-8A63-C24A-3734FA645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C6A585-9144-F01B-97FF-CAF09DCBD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15477-CADA-4AAC-A03F-C918FBDBD1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5179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55F0AD6-0CC4-8A77-DD5B-D8F79B1BF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1DDFFA-0DD0-5492-26E5-3AB826C4D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5A7C92-0D58-142F-A2EA-8FF9D24276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261858-E866-471E-9F22-67C23F082C2F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F83680-5505-D2DA-4EC2-9C8A73355D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70772F-B650-C492-3191-EDFD75B74F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E15477-CADA-4AAC-A03F-C918FBDBD1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587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D3D45B-4E3E-133C-CD84-E772887E64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요구사항명세서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1516D18-E1C9-8750-F17E-00197429F7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8057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01B57C-589C-AA10-83C8-E7CC76946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0BB5E8-8B42-A810-69C6-24C8266E9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 err="1"/>
              <a:t>스템은</a:t>
            </a:r>
            <a:r>
              <a:rPr lang="ko-KR" altLang="en-US" b="1" dirty="0"/>
              <a:t> 병원</a:t>
            </a:r>
            <a:r>
              <a:rPr lang="en-US" altLang="ko-KR" b="1" dirty="0"/>
              <a:t>(</a:t>
            </a:r>
            <a:r>
              <a:rPr lang="ko-KR" altLang="en-US" b="1" dirty="0"/>
              <a:t>의료진</a:t>
            </a:r>
            <a:r>
              <a:rPr lang="en-US" altLang="ko-KR" b="1" dirty="0"/>
              <a:t>, </a:t>
            </a:r>
            <a:r>
              <a:rPr lang="ko-KR" altLang="en-US" b="1" dirty="0"/>
              <a:t>진료</a:t>
            </a:r>
            <a:r>
              <a:rPr lang="en-US" altLang="ko-KR" b="1" dirty="0"/>
              <a:t>), </a:t>
            </a:r>
            <a:r>
              <a:rPr lang="ko-KR" altLang="en-US" b="1" dirty="0"/>
              <a:t>약국</a:t>
            </a:r>
            <a:r>
              <a:rPr lang="en-US" altLang="ko-KR" b="1" dirty="0"/>
              <a:t>(</a:t>
            </a:r>
            <a:r>
              <a:rPr lang="ko-KR" altLang="en-US" b="1" dirty="0"/>
              <a:t>약품</a:t>
            </a:r>
            <a:r>
              <a:rPr lang="en-US" altLang="ko-KR" b="1" dirty="0"/>
              <a:t>, </a:t>
            </a:r>
            <a:r>
              <a:rPr lang="ko-KR" altLang="en-US" b="1" dirty="0"/>
              <a:t>처방 이행</a:t>
            </a:r>
            <a:r>
              <a:rPr lang="en-US" altLang="ko-KR" b="1" dirty="0"/>
              <a:t>) </a:t>
            </a:r>
            <a:r>
              <a:rPr lang="ko-KR" altLang="en-US" b="1" dirty="0"/>
              <a:t>및 환자 정보를 통합적으로 관리하여 진료 예약부터 약품 수령까지의 과정을 효율적으로 되게 </a:t>
            </a:r>
            <a:r>
              <a:rPr lang="ko-KR" altLang="en-US" b="1" dirty="0" err="1"/>
              <a:t>만들음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460616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5794AAC2-D8BD-2383-DCD2-87B4853740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0962388"/>
              </p:ext>
            </p:extLst>
          </p:nvPr>
        </p:nvGraphicFramePr>
        <p:xfrm>
          <a:off x="643467" y="1053930"/>
          <a:ext cx="10905067" cy="4750142"/>
        </p:xfrm>
        <a:graphic>
          <a:graphicData uri="http://schemas.openxmlformats.org/drawingml/2006/table">
            <a:tbl>
              <a:tblPr/>
              <a:tblGrid>
                <a:gridCol w="1671023">
                  <a:extLst>
                    <a:ext uri="{9D8B030D-6E8A-4147-A177-3AD203B41FA5}">
                      <a16:colId xmlns:a16="http://schemas.microsoft.com/office/drawing/2014/main" val="988229263"/>
                    </a:ext>
                  </a:extLst>
                </a:gridCol>
                <a:gridCol w="4502538">
                  <a:extLst>
                    <a:ext uri="{9D8B030D-6E8A-4147-A177-3AD203B41FA5}">
                      <a16:colId xmlns:a16="http://schemas.microsoft.com/office/drawing/2014/main" val="754628224"/>
                    </a:ext>
                  </a:extLst>
                </a:gridCol>
                <a:gridCol w="4731506">
                  <a:extLst>
                    <a:ext uri="{9D8B030D-6E8A-4147-A177-3AD203B41FA5}">
                      <a16:colId xmlns:a16="http://schemas.microsoft.com/office/drawing/2014/main" val="2753219060"/>
                    </a:ext>
                  </a:extLst>
                </a:gridCol>
              </a:tblGrid>
              <a:tr h="62660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dirty="0"/>
                    </a:p>
                  </a:txBody>
                  <a:tcPr marL="81831" marR="81831" marT="40916" marB="409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1"/>
                        <a:t>환자 등록</a:t>
                      </a:r>
                      <a:r>
                        <a:rPr lang="en-US" altLang="ko-KR" sz="1600" b="1"/>
                        <a:t>/</a:t>
                      </a:r>
                      <a:r>
                        <a:rPr lang="ko-KR" altLang="en-US" sz="1600" b="1"/>
                        <a:t>관리</a:t>
                      </a:r>
                    </a:p>
                  </a:txBody>
                  <a:tcPr marL="81831" marR="81831" marT="40916" marB="409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1" dirty="0"/>
                        <a:t>환자의 주민등록번호</a:t>
                      </a:r>
                      <a:r>
                        <a:rPr lang="en-US" altLang="ko-KR" sz="1600" b="1" dirty="0"/>
                        <a:t>(PK), </a:t>
                      </a:r>
                      <a:r>
                        <a:rPr lang="ko-KR" altLang="en-US" sz="1600" b="1" dirty="0"/>
                        <a:t>이름</a:t>
                      </a:r>
                      <a:r>
                        <a:rPr lang="en-US" altLang="ko-KR" sz="1600" b="1" dirty="0"/>
                        <a:t>, </a:t>
                      </a:r>
                      <a:r>
                        <a:rPr lang="ko-KR" altLang="en-US" sz="1600" b="1" dirty="0"/>
                        <a:t>생년월일</a:t>
                      </a:r>
                      <a:r>
                        <a:rPr lang="en-US" altLang="ko-KR" sz="1600" b="1" dirty="0"/>
                        <a:t>, </a:t>
                      </a:r>
                      <a:r>
                        <a:rPr lang="ko-KR" altLang="en-US" sz="1600" b="1" dirty="0"/>
                        <a:t>연락처</a:t>
                      </a:r>
                      <a:r>
                        <a:rPr lang="en-US" altLang="ko-KR" sz="1600" b="1" dirty="0"/>
                        <a:t>, </a:t>
                      </a:r>
                      <a:r>
                        <a:rPr lang="ko-KR" altLang="en-US" sz="1600" b="1" dirty="0"/>
                        <a:t>주소 등의 정보를 등록하고 관리함</a:t>
                      </a:r>
                      <a:endParaRPr lang="en-US" altLang="ko-KR" sz="1600" b="1" dirty="0"/>
                    </a:p>
                  </a:txBody>
                  <a:tcPr marL="81831" marR="81831" marT="40916" marB="409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1146015"/>
                  </a:ext>
                </a:extLst>
              </a:tr>
              <a:tr h="62660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dirty="0"/>
                    </a:p>
                  </a:txBody>
                  <a:tcPr marL="81831" marR="81831" marT="40916" marB="409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1" dirty="0"/>
                        <a:t>의사 및 부서 관리</a:t>
                      </a:r>
                    </a:p>
                  </a:txBody>
                  <a:tcPr marL="81831" marR="81831" marT="40916" marB="409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1" dirty="0"/>
                        <a:t>의사의 소속 부서</a:t>
                      </a:r>
                      <a:r>
                        <a:rPr lang="en-US" altLang="ko-KR" sz="1600" b="1" dirty="0"/>
                        <a:t>, </a:t>
                      </a:r>
                      <a:r>
                        <a:rPr lang="ko-KR" altLang="en-US" sz="1600" b="1" dirty="0"/>
                        <a:t>면허 번호</a:t>
                      </a:r>
                      <a:r>
                        <a:rPr lang="en-US" altLang="ko-KR" sz="1600" b="1" dirty="0"/>
                        <a:t>, </a:t>
                      </a:r>
                      <a:r>
                        <a:rPr lang="ko-KR" altLang="en-US" sz="1600" b="1" dirty="0"/>
                        <a:t>이름 등을 등록하고</a:t>
                      </a:r>
                      <a:r>
                        <a:rPr lang="en-US" altLang="ko-KR" sz="1600" b="1" dirty="0"/>
                        <a:t> </a:t>
                      </a:r>
                      <a:r>
                        <a:rPr lang="ko-KR" altLang="en-US" sz="1600" b="1" dirty="0"/>
                        <a:t>부서</a:t>
                      </a:r>
                      <a:r>
                        <a:rPr lang="en-US" altLang="ko-KR" sz="1600" b="1" dirty="0"/>
                        <a:t> </a:t>
                      </a:r>
                      <a:r>
                        <a:rPr lang="ko-KR" altLang="en-US" sz="1600" b="1" dirty="0"/>
                        <a:t>정보를 관리함</a:t>
                      </a:r>
                      <a:endParaRPr lang="en-US" altLang="ko-KR" sz="1600" b="1" dirty="0"/>
                    </a:p>
                  </a:txBody>
                  <a:tcPr marL="81831" marR="81831" marT="40916" marB="409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5495716"/>
                  </a:ext>
                </a:extLst>
              </a:tr>
              <a:tr h="87423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dirty="0"/>
                    </a:p>
                  </a:txBody>
                  <a:tcPr marL="81831" marR="81831" marT="40916" marB="409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1" dirty="0"/>
                        <a:t>진료 예약 및 기록</a:t>
                      </a:r>
                    </a:p>
                  </a:txBody>
                  <a:tcPr marL="81831" marR="81831" marT="40916" marB="409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1" dirty="0"/>
                        <a:t>환자가 특정 의사에게 진료를 예약하고</a:t>
                      </a:r>
                      <a:r>
                        <a:rPr lang="en-US" altLang="ko-KR" sz="1600" b="1" dirty="0"/>
                        <a:t>, </a:t>
                      </a:r>
                      <a:r>
                        <a:rPr lang="ko-KR" altLang="en-US" sz="1600" b="1" dirty="0"/>
                        <a:t>의사는 진료일</a:t>
                      </a:r>
                      <a:r>
                        <a:rPr lang="en-US" altLang="ko-KR" sz="1600" b="1" dirty="0"/>
                        <a:t>, </a:t>
                      </a:r>
                      <a:r>
                        <a:rPr lang="ko-KR" altLang="en-US" sz="1600" b="1" dirty="0"/>
                        <a:t>진단명</a:t>
                      </a:r>
                      <a:r>
                        <a:rPr lang="en-US" altLang="ko-KR" sz="1600" b="1" dirty="0"/>
                        <a:t>, </a:t>
                      </a:r>
                      <a:r>
                        <a:rPr lang="ko-KR" altLang="en-US" sz="1600" b="1" dirty="0"/>
                        <a:t>특이사항 등의 진료 기록을 </a:t>
                      </a:r>
                      <a:r>
                        <a:rPr lang="ko-KR" altLang="en-US" sz="1600" b="1" dirty="0" err="1"/>
                        <a:t>남겨야함</a:t>
                      </a:r>
                      <a:endParaRPr lang="en-US" altLang="ko-KR" sz="1600" b="1" dirty="0"/>
                    </a:p>
                  </a:txBody>
                  <a:tcPr marL="81831" marR="81831" marT="40916" marB="409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7355838"/>
                  </a:ext>
                </a:extLst>
              </a:tr>
              <a:tr h="112185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dirty="0"/>
                    </a:p>
                  </a:txBody>
                  <a:tcPr marL="81831" marR="81831" marT="40916" marB="409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1" dirty="0"/>
                        <a:t>처방전 발행 및 상세 관리</a:t>
                      </a:r>
                    </a:p>
                  </a:txBody>
                  <a:tcPr marL="81831" marR="81831" marT="40916" marB="409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1" dirty="0"/>
                        <a:t>의사는 진료 기록을 기반으로 처방전을 발행하고</a:t>
                      </a:r>
                      <a:r>
                        <a:rPr lang="en-US" altLang="ko-KR" sz="1600" b="1" dirty="0"/>
                        <a:t>, </a:t>
                      </a:r>
                      <a:r>
                        <a:rPr lang="ko-KR" altLang="en-US" sz="1600" b="1" dirty="0"/>
                        <a:t>각 약품별로 용량 및 조제 수량을 지정하고 관리할 수 있어야 한다</a:t>
                      </a:r>
                      <a:endParaRPr lang="en-US" altLang="ko-KR" sz="1600" b="1" dirty="0"/>
                    </a:p>
                  </a:txBody>
                  <a:tcPr marL="81831" marR="81831" marT="40916" marB="409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8496626"/>
                  </a:ext>
                </a:extLst>
              </a:tr>
              <a:tr h="62660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dirty="0"/>
                    </a:p>
                  </a:txBody>
                  <a:tcPr marL="81831" marR="81831" marT="40916" marB="409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1"/>
                        <a:t>약품 정보 관리</a:t>
                      </a:r>
                    </a:p>
                  </a:txBody>
                  <a:tcPr marL="81831" marR="81831" marT="40916" marB="409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1" dirty="0"/>
                        <a:t>약품의 고유 코드</a:t>
                      </a:r>
                      <a:r>
                        <a:rPr lang="en-US" altLang="ko-KR" sz="1600" b="1" dirty="0"/>
                        <a:t>, </a:t>
                      </a:r>
                      <a:r>
                        <a:rPr lang="ko-KR" altLang="en-US" sz="1600" b="1" dirty="0"/>
                        <a:t>이름</a:t>
                      </a:r>
                      <a:r>
                        <a:rPr lang="en-US" altLang="ko-KR" sz="1600" b="1" dirty="0"/>
                        <a:t>, </a:t>
                      </a:r>
                      <a:r>
                        <a:rPr lang="ko-KR" altLang="en-US" sz="1600" b="1" dirty="0"/>
                        <a:t>제조사</a:t>
                      </a:r>
                      <a:r>
                        <a:rPr lang="en-US" altLang="ko-KR" sz="1600" b="1" dirty="0"/>
                        <a:t>, </a:t>
                      </a:r>
                      <a:r>
                        <a:rPr lang="ko-KR" altLang="en-US" sz="1600" b="1" dirty="0"/>
                        <a:t>단위 가격 등의 정보를 등록하고 관리함</a:t>
                      </a:r>
                      <a:endParaRPr lang="en-US" altLang="ko-KR" sz="1600" b="1" dirty="0"/>
                    </a:p>
                  </a:txBody>
                  <a:tcPr marL="81831" marR="81831" marT="40916" marB="409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4695550"/>
                  </a:ext>
                </a:extLst>
              </a:tr>
              <a:tr h="87423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dirty="0"/>
                    </a:p>
                  </a:txBody>
                  <a:tcPr marL="81831" marR="81831" marT="40916" marB="409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1"/>
                        <a:t>처방전 이행 확인</a:t>
                      </a:r>
                    </a:p>
                  </a:txBody>
                  <a:tcPr marL="81831" marR="81831" marT="40916" marB="409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b="1" dirty="0"/>
                        <a:t>약국은 처방전 </a:t>
                      </a:r>
                      <a:r>
                        <a:rPr lang="en-US" altLang="ko-KR" sz="1600" b="1" dirty="0"/>
                        <a:t>ID</a:t>
                      </a:r>
                      <a:r>
                        <a:rPr lang="ko-KR" altLang="en-US" sz="1600" b="1" dirty="0"/>
                        <a:t>를 통해 내역을 확인하고</a:t>
                      </a:r>
                      <a:r>
                        <a:rPr lang="en-US" altLang="ko-KR" sz="1600" b="1" dirty="0"/>
                        <a:t>, </a:t>
                      </a:r>
                      <a:r>
                        <a:rPr lang="ko-KR" altLang="en-US" sz="1600" b="1" dirty="0"/>
                        <a:t>약품을 조제하여 환자에게 제공한 후 </a:t>
                      </a:r>
                      <a:r>
                        <a:rPr lang="en-US" altLang="ko-KR" sz="1600" b="1" dirty="0"/>
                        <a:t>'</a:t>
                      </a:r>
                      <a:r>
                        <a:rPr lang="ko-KR" altLang="en-US" sz="1600" b="1" dirty="0"/>
                        <a:t>이행 완료</a:t>
                      </a:r>
                      <a:r>
                        <a:rPr lang="en-US" altLang="ko-KR" sz="1600" b="1" dirty="0"/>
                        <a:t>' </a:t>
                      </a:r>
                      <a:r>
                        <a:rPr lang="ko-KR" altLang="en-US" sz="1600" b="1" dirty="0"/>
                        <a:t>상태를 기록함</a:t>
                      </a:r>
                      <a:endParaRPr lang="en-US" altLang="ko-KR" sz="1600" b="1" dirty="0"/>
                    </a:p>
                  </a:txBody>
                  <a:tcPr marL="81831" marR="81831" marT="40916" marB="409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318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4026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93CDC7-060B-B299-5A1F-DFE9EC395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요구사항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689463-3905-ED4E-0C4F-8A51F0707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400" b="1" dirty="0" err="1"/>
              <a:t>환자은</a:t>
            </a:r>
            <a:r>
              <a:rPr lang="ko-KR" altLang="en-US" sz="1400" b="1" dirty="0"/>
              <a:t> 정보</a:t>
            </a:r>
            <a:r>
              <a:rPr lang="en-US" altLang="ko-KR" sz="1400" b="1" dirty="0"/>
              <a:t>,</a:t>
            </a:r>
            <a:r>
              <a:rPr lang="ko-KR" altLang="en-US" sz="1400" b="1" dirty="0"/>
              <a:t>이름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생년월일</a:t>
            </a:r>
            <a:r>
              <a:rPr lang="en-US" altLang="ko-KR" sz="1400" b="1" dirty="0"/>
              <a:t>,</a:t>
            </a:r>
            <a:r>
              <a:rPr lang="ko-KR" altLang="en-US" sz="1400" b="1" dirty="0"/>
              <a:t>주소가 필요</a:t>
            </a:r>
            <a:endParaRPr lang="en-US" altLang="ko-KR" sz="1400" b="1" dirty="0"/>
          </a:p>
          <a:p>
            <a:r>
              <a:rPr lang="ko-KR" altLang="en-US" sz="1400" b="1" dirty="0" err="1"/>
              <a:t>의사은</a:t>
            </a:r>
            <a:r>
              <a:rPr lang="ko-KR" altLang="en-US" sz="1400" b="1" dirty="0"/>
              <a:t> 면허번호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이름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부서 </a:t>
            </a:r>
            <a:r>
              <a:rPr lang="en-US" altLang="ko-KR" sz="1400" b="1" dirty="0"/>
              <a:t>ID,</a:t>
            </a:r>
            <a:r>
              <a:rPr lang="ko-KR" altLang="en-US" sz="1400" b="1" dirty="0"/>
              <a:t>연락처가 필요</a:t>
            </a:r>
            <a:endParaRPr lang="en-US" altLang="ko-KR" sz="1400" b="1" dirty="0"/>
          </a:p>
          <a:p>
            <a:r>
              <a:rPr lang="ko-KR" altLang="en-US" sz="1400" b="1" dirty="0" err="1"/>
              <a:t>부서은</a:t>
            </a:r>
            <a:r>
              <a:rPr lang="ko-KR" altLang="en-US" sz="1400" b="1" dirty="0"/>
              <a:t> 부서</a:t>
            </a:r>
            <a:r>
              <a:rPr lang="en-US" altLang="ko-KR" sz="1400" b="1" dirty="0"/>
              <a:t>ID</a:t>
            </a:r>
            <a:r>
              <a:rPr lang="ko-KR" altLang="en-US" sz="1400" b="1" dirty="0"/>
              <a:t>과 이름과 위치 정보가 필요합니다</a:t>
            </a:r>
            <a:r>
              <a:rPr lang="en-US" altLang="ko-KR" sz="1400" b="1" dirty="0"/>
              <a:t>.</a:t>
            </a:r>
          </a:p>
          <a:p>
            <a:r>
              <a:rPr lang="ko-KR" altLang="en-US" sz="1400" b="1" dirty="0"/>
              <a:t>약국은 약국</a:t>
            </a:r>
            <a:r>
              <a:rPr lang="en-US" altLang="ko-KR" sz="1400" b="1" dirty="0"/>
              <a:t>ID, </a:t>
            </a:r>
            <a:r>
              <a:rPr lang="ko-KR" altLang="en-US" sz="1400" b="1" dirty="0" err="1"/>
              <a:t>약국명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주소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연락처 정보가 필요합니다</a:t>
            </a:r>
            <a:r>
              <a:rPr lang="en-US" altLang="ko-KR" sz="1400" b="1" dirty="0"/>
              <a:t>.</a:t>
            </a:r>
          </a:p>
          <a:p>
            <a:r>
              <a:rPr lang="ko-KR" altLang="en-US" sz="1400" b="1" dirty="0" err="1"/>
              <a:t>진료은</a:t>
            </a:r>
            <a:r>
              <a:rPr lang="ko-KR" altLang="en-US" sz="1400" b="1" dirty="0"/>
              <a:t> 환자</a:t>
            </a:r>
            <a:r>
              <a:rPr lang="en-US" altLang="ko-KR" sz="1400" b="1" dirty="0"/>
              <a:t>(FK)</a:t>
            </a:r>
            <a:r>
              <a:rPr lang="ko-KR" altLang="en-US" sz="1400" b="1" dirty="0"/>
              <a:t>와 의사</a:t>
            </a:r>
            <a:r>
              <a:rPr lang="en-US" altLang="ko-KR" sz="1400" b="1" dirty="0"/>
              <a:t>(FK)</a:t>
            </a:r>
            <a:r>
              <a:rPr lang="ko-KR" altLang="en-US" sz="1400" b="1" dirty="0"/>
              <a:t>를 연결하며 진료</a:t>
            </a:r>
            <a:r>
              <a:rPr lang="en-US" altLang="ko-KR" sz="1400" b="1" dirty="0"/>
              <a:t>ID,</a:t>
            </a:r>
            <a:r>
              <a:rPr lang="ko-KR" altLang="en-US" sz="1400" b="1" dirty="0"/>
              <a:t>환자정보</a:t>
            </a:r>
            <a:r>
              <a:rPr lang="en-US" altLang="ko-KR" sz="1400" b="1" dirty="0"/>
              <a:t>,</a:t>
            </a:r>
            <a:r>
              <a:rPr lang="ko-KR" altLang="en-US" sz="1400" b="1" dirty="0"/>
              <a:t>의사면허번호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진료 일시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진단명이 필요</a:t>
            </a:r>
            <a:endParaRPr lang="en-US" altLang="ko-KR" sz="1400" b="1" dirty="0"/>
          </a:p>
          <a:p>
            <a:r>
              <a:rPr lang="ko-KR" altLang="en-US" sz="1400" b="1" dirty="0" err="1"/>
              <a:t>처방전으</a:t>
            </a:r>
            <a:r>
              <a:rPr lang="ko-KR" altLang="en-US" sz="1400" b="1" dirty="0"/>
              <a:t> 진료 기록</a:t>
            </a:r>
            <a:r>
              <a:rPr lang="en-US" altLang="ko-KR" sz="1400" b="1" dirty="0"/>
              <a:t>(FK)</a:t>
            </a:r>
            <a:r>
              <a:rPr lang="ko-KR" altLang="en-US" sz="1400" b="1" dirty="0"/>
              <a:t>을 기반으로 생성되며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발행일 및 약국</a:t>
            </a:r>
            <a:r>
              <a:rPr lang="en-US" altLang="ko-KR" sz="1400" b="1" dirty="0"/>
              <a:t>(FK) </a:t>
            </a:r>
            <a:r>
              <a:rPr lang="ko-KR" altLang="en-US" sz="1400" b="1" dirty="0"/>
              <a:t>정보가 필요함</a:t>
            </a:r>
            <a:endParaRPr lang="en-US" altLang="ko-KR" sz="1400" b="1" dirty="0"/>
          </a:p>
          <a:p>
            <a:r>
              <a:rPr lang="ko-KR" altLang="en-US" sz="1400" b="1" dirty="0"/>
              <a:t>약품은 약품 코드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약품명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제조사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가격이 필요</a:t>
            </a:r>
            <a:endParaRPr lang="en-US" altLang="ko-KR" sz="1400" b="1" dirty="0"/>
          </a:p>
          <a:p>
            <a:r>
              <a:rPr lang="ko-KR" altLang="en-US" sz="1400" b="1" dirty="0"/>
              <a:t>처방 </a:t>
            </a:r>
            <a:r>
              <a:rPr lang="ko-KR" altLang="en-US" sz="1400" b="1" dirty="0" err="1"/>
              <a:t>상세은</a:t>
            </a:r>
            <a:r>
              <a:rPr lang="ko-KR" altLang="en-US" sz="1400" b="1" dirty="0"/>
              <a:t> 하나의 처방전이 여러 약품을 포함하고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하나의 약품이 여러 처방전에 사용되는 </a:t>
            </a:r>
            <a:r>
              <a:rPr lang="en-US" altLang="ko-KR" sz="1400" b="1" dirty="0"/>
              <a:t>N:M </a:t>
            </a:r>
            <a:r>
              <a:rPr lang="ko-KR" altLang="en-US" sz="1400" b="1" dirty="0"/>
              <a:t>관계를 해소하기 위해 필요합니다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이 테이블에는 처방전 </a:t>
            </a:r>
            <a:r>
              <a:rPr lang="en-US" altLang="ko-KR" sz="1400" b="1" dirty="0"/>
              <a:t>ID, </a:t>
            </a:r>
            <a:r>
              <a:rPr lang="ko-KR" altLang="en-US" sz="1400" b="1" dirty="0"/>
              <a:t>약품 코드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환자가 복용해야 할 용량 및 조제 수량 정보가 포함됩니다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915604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132d4f7-3ff6-42a6-9c84-a78a808c16d0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05EFDECECAE815428E4874546E1D19C3" ma:contentTypeVersion="5" ma:contentTypeDescription="새 문서를 만듭니다." ma:contentTypeScope="" ma:versionID="5e7e08a35b6544490ae3cccaeab87fe8">
  <xsd:schema xmlns:xsd="http://www.w3.org/2001/XMLSchema" xmlns:xs="http://www.w3.org/2001/XMLSchema" xmlns:p="http://schemas.microsoft.com/office/2006/metadata/properties" xmlns:ns3="0132d4f7-3ff6-42a6-9c84-a78a808c16d0" targetNamespace="http://schemas.microsoft.com/office/2006/metadata/properties" ma:root="true" ma:fieldsID="9284ddb94c6bf4717f1139baaa3e383f" ns3:_="">
    <xsd:import namespace="0132d4f7-3ff6-42a6-9c84-a78a808c16d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32d4f7-3ff6-42a6-9c84-a78a808c16d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8693611-BC9F-488F-BB44-A041E188DD1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1FA0878-ADCD-49CC-A9EF-3D3E22AE3687}">
  <ds:schemaRefs>
    <ds:schemaRef ds:uri="http://purl.org/dc/dcmitype/"/>
    <ds:schemaRef ds:uri="http://www.w3.org/XML/1998/namespace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0132d4f7-3ff6-42a6-9c84-a78a808c16d0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0286F32F-826C-48F5-92CD-93190A923E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32d4f7-3ff6-42a6-9c84-a78a808c16d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725</TotalTime>
  <Words>281</Words>
  <Application>Microsoft Office PowerPoint</Application>
  <PresentationFormat>와이드스크린</PresentationFormat>
  <Paragraphs>24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요구사항명세서</vt:lpstr>
      <vt:lpstr>개요</vt:lpstr>
      <vt:lpstr>PowerPoint 프레젠테이션</vt:lpstr>
      <vt:lpstr>데이터 요구사항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유상훈</dc:creator>
  <cp:lastModifiedBy>유상훈</cp:lastModifiedBy>
  <cp:revision>5</cp:revision>
  <dcterms:created xsi:type="dcterms:W3CDTF">2025-11-03T06:00:34Z</dcterms:created>
  <dcterms:modified xsi:type="dcterms:W3CDTF">2025-12-03T06:33:30Z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0x01010005EFDECECAE815428E4874546E1D19C3</vt:lpwstr>
  </property>
</Properties>
</file>